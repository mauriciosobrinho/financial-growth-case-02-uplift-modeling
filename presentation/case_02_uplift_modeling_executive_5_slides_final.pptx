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aec8618c8841a7" /><Relationship Type="http://schemas.openxmlformats.org/officeDocument/2006/relationships/extended-properties" Target="/docProps/app.xml" Id="R3993886fd0e8492c" /><Relationship Type="http://schemas.openxmlformats.org/officeDocument/2006/relationships/officeDocument" Target="/ppt/presentation.xml" Id="Re6714c6c519f44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11b04a65174d73"/>
  </p:sldMasterIdLst>
  <p:notesMasterIdLst>
    <p:notesMasterId xmlns:r="http://schemas.openxmlformats.org/officeDocument/2006/relationships" r:id="R6351f4b664194342"/>
  </p:notesMasterIdLst>
  <p:sldIdLst>
    <p:sldId xmlns:r="http://schemas.openxmlformats.org/officeDocument/2006/relationships" id="256" r:id="Rabe967fd8fcc4978"/>
    <p:sldId xmlns:r="http://schemas.openxmlformats.org/officeDocument/2006/relationships" id="257" r:id="Ree449feb2d8f4889"/>
    <p:sldId xmlns:r="http://schemas.openxmlformats.org/officeDocument/2006/relationships" id="258" r:id="R436a3c6c738e4878"/>
    <p:sldId xmlns:r="http://schemas.openxmlformats.org/officeDocument/2006/relationships" id="259" r:id="R49b1ae184be6430b"/>
    <p:sldId xmlns:r="http://schemas.openxmlformats.org/officeDocument/2006/relationships" id="260" r:id="R7b41903c384a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deee8a57244412" /><Relationship Type="http://schemas.openxmlformats.org/officeDocument/2006/relationships/slideMaster" Target="/ppt/slideMasters/slideMaster1.xml" Id="R6e11b04a65174d73" /><Relationship Type="http://schemas.openxmlformats.org/officeDocument/2006/relationships/notesMaster" Target="/ppt/notesMasters/notesMaster1.xml" Id="R6351f4b664194342" /><Relationship Type="http://schemas.openxmlformats.org/officeDocument/2006/relationships/presProps" Target="/ppt/presProps.xml" Id="R65ae665547e74d59" /><Relationship Type="http://schemas.openxmlformats.org/officeDocument/2006/relationships/tableStyles" Target="/ppt/tableStyles.xml" Id="Ra5bdb61b8faf4fb2" /><Relationship Type="http://schemas.openxmlformats.org/officeDocument/2006/relationships/slide" Target="/ppt/slides/slide1.xml" Id="Rabe967fd8fcc4978" /><Relationship Type="http://schemas.openxmlformats.org/officeDocument/2006/relationships/slide" Target="/ppt/slides/slide2.xml" Id="Ree449feb2d8f4889" /><Relationship Type="http://schemas.openxmlformats.org/officeDocument/2006/relationships/slide" Target="/ppt/slides/slide3.xml" Id="R436a3c6c738e4878" /><Relationship Type="http://schemas.openxmlformats.org/officeDocument/2006/relationships/slide" Target="/ppt/slides/slide4.xml" Id="R49b1ae184be6430b" /><Relationship Type="http://schemas.openxmlformats.org/officeDocument/2006/relationships/slide" Target="/ppt/slides/slide5.xml" Id="R7b41903c384a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e744f32587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a7f71427854cf5" /><Relationship Type="http://schemas.openxmlformats.org/officeDocument/2006/relationships/notesMaster" Target="/ppt/notesMasters/notesMaster1.xml" Id="Rdc47dcab1a4441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b06e6913984e95" /><Relationship Type="http://schemas.openxmlformats.org/officeDocument/2006/relationships/notesMaster" Target="/ppt/notesMasters/notesMaster1.xml" Id="Raa6812d5fef04d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94fa9e527e4cfd" /><Relationship Type="http://schemas.openxmlformats.org/officeDocument/2006/relationships/notesMaster" Target="/ppt/notesMasters/notesMaster1.xml" Id="R8be69367f685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d7fd70cc80420c" /><Relationship Type="http://schemas.openxmlformats.org/officeDocument/2006/relationships/notesMaster" Target="/ppt/notesMasters/notesMaster1.xml" Id="Rb86af2d0e82b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1701f1ab67488a" /><Relationship Type="http://schemas.openxmlformats.org/officeDocument/2006/relationships/notesMaster" Target="/ppt/notesMasters/notesMaster1.xml" Id="R4981999d3de445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pela diferença entre response prediction e causal targeting. A randomização sustenta o ITT e a capacidade fixa o problema de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notebooks/01_end_to_end_case.ipynb</a:t>
            </a:r>
          </a:p>
          <a:p xmlns:a="http://schemas.openxmlformats.org/drawingml/2006/main">
            <a:r>
              <a:t>- outputs/metrics/executive_summary.json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 balanceamento antes dos modelos. Delivery mede non-compliance e não substitui assignment. Variáveis pós-atribuição ficam fora do CATE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notebooks/01_end_to_end_case.ipynb</a:t>
            </a:r>
          </a:p>
          <a:p xmlns:a="http://schemas.openxmlformats.org/drawingml/2006/main">
            <a:r>
              <a:t>- outputs/metrics/executive_summary.json</a:t>
            </a:r>
          </a:p>
          <a:p xmlns:a="http://schemas.openxmlformats.org/drawingml/2006/main">
            <a:r>
              <a:t>- outputs/tables/train_randomization_balance_smd.csv</a:t>
            </a:r>
          </a:p>
          <a:p xmlns:a="http://schemas.openxmlformats.org/drawingml/2006/main">
            <a:r>
              <a:t>- outputs/tables/development_experiment_summary_by_wave.csv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learners pelo valor de ranking, não pelo fit do outcome. O S-Learner foi congelado na Validation. Causal Forest e Uplift Tree não foram executados porque as bibliotecas não estavam 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notebooks/01_end_to_end_case.ipynb</a:t>
            </a:r>
          </a:p>
          <a:p xmlns:a="http://schemas.openxmlformats.org/drawingml/2006/main">
            <a:r>
              <a:t>- outputs/metrics/executive_summary.json</a:t>
            </a:r>
          </a:p>
          <a:p xmlns:a="http://schemas.openxmlformats.org/drawingml/2006/main">
            <a:r>
              <a:t>- outputs/metrics/validation_model_comparison.csv</a:t>
            </a:r>
          </a:p>
          <a:p xmlns:a="http://schemas.openxmlformats.org/drawingml/2006/main">
            <a:r>
              <a:t>- outputs/metrics/champion_freeze_record.json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capacidade é igual nas três políticas. Random representa a média de 200 sorteios. O valor líquido usa diferença randomizada de margem menos custo esperado de contato.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notebooks/01_end_to_end_case.ipynb</a:t>
            </a:r>
          </a:p>
          <a:p xmlns:a="http://schemas.openxmlformats.org/drawingml/2006/main">
            <a:r>
              <a:t>- outputs/metrics/executive_summary.json</a:t>
            </a:r>
          </a:p>
          <a:p xmlns:a="http://schemas.openxmlformats.org/drawingml/2006/main">
            <a:r>
              <a:t>- outputs/tables/oot_policy_comparison.csv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com a política de teste e os guardrails. Reforçar que CATE individual não é observado e que o valor em produção depende de novo experimento randomizado.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notebooks/01_end_to_end_case.ipynb</a:t>
            </a:r>
          </a:p>
          <a:p xmlns:a="http://schemas.openxmlformats.org/drawingml/2006/main">
            <a:r>
              <a:t>- outputs/metrics/executive_summary.json</a:t>
            </a:r>
          </a:p>
          <a:p xmlns:a="http://schemas.openxmlformats.org/drawingml/2006/main">
            <a:r>
              <a:t>- outputs/tables/oot_segment_effects.csv</a:t>
            </a:r>
          </a:p>
          <a:p xmlns:a="http://schemas.openxmlformats.org/drawingml/2006/main">
            <a:r>
              <a:t>- outputs/tables/psi_train_vs_oot_after_freeze.csv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2fd7086b84d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6af8ad16ee4093" /><Relationship Type="http://schemas.openxmlformats.org/officeDocument/2006/relationships/slideLayout" Target="/ppt/slideLayouts/slideLayout1.xml" Id="R2229194715da4e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9194715da4e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14f9bcf14470" /><Relationship Type="http://schemas.openxmlformats.org/officeDocument/2006/relationships/notesSlide" Target="/ppt/notesSlides/notesSlide1.xml" Id="Red90d126016d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b107cffd4cf5" /><Relationship Type="http://schemas.openxmlformats.org/officeDocument/2006/relationships/chart" Target="/ppt/slides/charts/chart1.xml" Id="R2ba241836a814c48" /><Relationship Type="http://schemas.openxmlformats.org/officeDocument/2006/relationships/notesSlide" Target="/ppt/notesSlides/notesSlide2.xml" Id="Rd61c76cfcfc144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63d82685f4ae6" /><Relationship Type="http://schemas.openxmlformats.org/officeDocument/2006/relationships/chart" Target="/ppt/slides/charts/chart2.xml" Id="R97480cb72c1d41a3" /><Relationship Type="http://schemas.openxmlformats.org/officeDocument/2006/relationships/notesSlide" Target="/ppt/notesSlides/notesSlide3.xml" Id="R2640baa58ef049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1ee8ee61842b1" /><Relationship Type="http://schemas.openxmlformats.org/officeDocument/2006/relationships/chart" Target="/ppt/slides/charts/chart3.xml" Id="R384b2364f91d4eba" /><Relationship Type="http://schemas.openxmlformats.org/officeDocument/2006/relationships/notesSlide" Target="/ppt/notesSlides/notesSlide4.xml" Id="R762b9273993b44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de1031a0140b4" /><Relationship Type="http://schemas.openxmlformats.org/officeDocument/2006/relationships/notesSlide" Target="/ppt/notesSlides/notesSlide5.xml" Id="Rf2a2fd89be9d404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Controle</c:v>
          </c:tx>
          <c:spPr>
            <a:solidFill xmlns:a="http://schemas.openxmlformats.org/drawingml/2006/main">
              <a:srgbClr val="5D6A73"/>
            </a:solidFill>
          </c:spPr>
          <c:cat>
            <c:numLit>
              <c:formatCode>General</c:formatCode>
              <c:ptCount val="5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</c:numLit>
          </c:cat>
          <c:val>
            <c:numLit>
              <c:formatCode>0%</c:formatCode>
              <c:ptCount val="5"/>
              <c:pt idx="0">
                <c:v>0.19710133322656845</c:v>
              </c:pt>
              <c:pt idx="1">
                <c:v>0.2075464164503893</c:v>
              </c:pt>
              <c:pt idx="2">
                <c:v>0.21373984393854076</c:v>
              </c:pt>
              <c:pt idx="3">
                <c:v>0.22144874497792275</c:v>
              </c:pt>
              <c:pt idx="4">
                <c:v>0.22713085234093638</c:v>
              </c:pt>
            </c:numLit>
          </c:val>
        </c:ser>
        <c:ser>
          <c:idx val="1"/>
          <c:order val="1"/>
          <c:tx>
            <c:v>Tratamento</c:v>
          </c:tx>
          <c:spPr>
            <a:solidFill xmlns:a="http://schemas.openxmlformats.org/drawingml/2006/main">
              <a:srgbClr val="258C8C"/>
            </a:solidFill>
          </c:spPr>
          <c:cat>
            <c:numLit>
              <c:formatCode>General</c:formatCode>
              <c:ptCount val="5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</c:numLit>
          </c:cat>
          <c:val>
            <c:numLit>
              <c:formatCode>0%</c:formatCode>
              <c:ptCount val="5"/>
              <c:pt idx="0">
                <c:v>0.2698717180194221</c:v>
              </c:pt>
              <c:pt idx="1">
                <c:v>0.2762572630735324</c:v>
              </c:pt>
              <c:pt idx="2">
                <c:v>0.29087437345850903</c:v>
              </c:pt>
              <c:pt idx="3">
                <c:v>0.2948393065443868</c:v>
              </c:pt>
              <c:pt idx="4">
                <c:v>0.30463814474210316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E3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D6A7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Uplift@20%</c:v>
          </c:tx>
          <c:spPr>
            <a:solidFill xmlns:a="http://schemas.openxmlformats.org/drawingml/2006/main">
              <a:srgbClr val="258C8C"/>
            </a:solidFill>
          </c:spPr>
          <c:cat>
            <c:strLit>
              <c:ptCount val="3"/>
              <c:pt idx="0">
                <c:v>S-Learner</c:v>
              </c:pt>
              <c:pt idx="1">
                <c:v>X-Learner</c:v>
              </c:pt>
              <c:pt idx="2">
                <c:v>T-Learner</c:v>
              </c:pt>
            </c:strLit>
          </c:cat>
          <c:val>
            <c:numLit>
              <c:formatCode>0%</c:formatCode>
              <c:ptCount val="3"/>
              <c:pt idx="0">
                <c:v>0.12220706590151448</c:v>
              </c:pt>
              <c:pt idx="1">
                <c:v>0.11363607270865334</c:v>
              </c:pt>
              <c:pt idx="2">
                <c:v>0.10564594363324986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5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E3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Conversões incrementais</c:v>
          </c:tx>
          <c:spPr>
            <a:solidFill xmlns:a="http://schemas.openxmlformats.org/drawingml/2006/main">
              <a:srgbClr val="258C8C"/>
            </a:solidFill>
          </c:spPr>
          <c:cat>
            <c:strLit>
              <c:ptCount val="3"/>
              <c:pt idx="0">
                <c:v>Random</c:v>
              </c:pt>
              <c:pt idx="1">
                <c:v>Top Propensity</c:v>
              </c:pt>
              <c:pt idx="2">
                <c:v>Top Uplift</c:v>
              </c:pt>
            </c:strLit>
          </c:cat>
          <c:val>
            <c:numLit>
              <c:formatCode>0</c:formatCode>
              <c:ptCount val="3"/>
              <c:pt idx="0">
                <c:v>762.0242070707137</c:v>
              </c:pt>
              <c:pt idx="1">
                <c:v>888.6568658837207</c:v>
              </c:pt>
              <c:pt idx="2">
                <c:v>1083.2721102830278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025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E3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1DDCC-E9BB-49FC-8416-B6D2A8A8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CASE TÉCNICO | DATA SCIENCE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701A9-118E-4661-9C8E-01DB2B81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SETEMBRO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140F0-6F6D-4FC8-A8E3-D2567D9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Uplift Modeling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53711-015F-42C7-B000-117C08F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Priorizar quem converte por causa da campanha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EB4A4-D830-4945-B9E4-30CB23D5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00150"/>
            <a:ext cx="39338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1F873-4D1C-4A55-B546-C3C693D6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PERGUNTA CAUSAL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521A3-8311-4924-9C0B-00F76240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Quem deve receber tratamento quando a capacidade alcança apenas 20%?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967B4-2ED1-47B5-9608-985F6B05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Treatment: assignment randomizado</a:t>
            </a:r>
          </a:p>
          <a:p xmlns:a="http://schemas.openxmlformats.org/drawingml/2006/main">
            <a:pPr algn="l">
              <a:defRPr sz="120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Outcome: conversão em 30 dias</a:t>
            </a:r>
          </a:p>
          <a:p xmlns:a="http://schemas.openxmlformats.org/drawingml/2006/main">
            <a:pPr algn="l">
              <a:defRPr sz="120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Estimando: CATE Intention-to-Treat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5CC8C-3071-4D18-9A34-8FB13DBA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300 mil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DFE67-AF04-47DA-B70E-E214652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clientes únicos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9F190-70B9-41CA-AB40-BDCEEBA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71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6 ondas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AC44F-3EDD-4831-BD30-0B5FC0E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50 mil clientes por mês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79C79-5ADB-4ECF-9B72-8FD57C7C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50 /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2902B-E5D5-4C99-8B89-4657C43A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48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tratamento e controle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F6C14-3E4D-438E-B44E-2D43A6FC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97839-0F1A-44CD-93AA-0465649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Train | ondas 1 a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0FAB3-7E22-4177-B0B8-0DCB3239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29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Validation | onda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F597B-6D81-4032-B01F-60A0E596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C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C5A5A"/>
                </a:solidFill>
                <a:latin typeface="Arial"/>
                <a:ea typeface="Arial"/>
                <a:cs typeface="Arial"/>
              </a:rPr>
              <a:t>OOT final | onda 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74D5B-D0C7-4608-BF54-9D75CDF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Champion e política congelados antes da abertura do OOT</a:t>
            </a:r>
          </a:p>
        </p:txBody>
      </p:sp>
    </p:spTree>
    <p:extLst>
      <p:ext uri="{BB962C8B-B14F-4D97-AF65-F5344CB8AC3E}">
        <p14:creationId xmlns:p14="http://schemas.microsoft.com/office/powerpoint/2010/main" val="593582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3DCA9-A284-493F-9659-A865793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O experimento está balanceado; execução e timing exigem controle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1E305-04AA-43E4-A5C0-46FA895E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A98CE-A585-47E8-8F5F-6E8A0E4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3"/>
          </a:solidFill>
          <a:ln xmlns:a="http://schemas.openxmlformats.org/drawingml/2006/main" w="0">
            <a:noFill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95300" y="135255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a241836a814c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1214C-D5AD-481A-BC19-E34D5A9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Conversão por braço randomizado | ondas de desenvolvimento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C0A33-FBFC-4B85-B27F-3D5ECABA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0,009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68164-4397-4F46-BA3F-EFFB74C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maior SMD no 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D81C5-8104-45FC-B3C3-C0FA110F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92,4%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3B965-D847-41AB-9B54-D342508C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delivery entre tratados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E2AB0-73EB-4B79-8273-E20E356B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99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7,3 p.p.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BB0C4-E2AF-4136-949D-5A1F3BFF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ITT médio no 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A9FC0-CF91-42C3-8BD0-50D18A26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D1D60-B3AB-4702-AA51-57545C37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TRATAMENTO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A579C-58B4-4797-AFD2-27512583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treatment_assigned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AD506-2BB0-4CE5-8443-5397FE11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C5A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C5A5A"/>
                </a:solidFill>
                <a:latin typeface="Arial"/>
                <a:ea typeface="Arial"/>
                <a:cs typeface="Arial"/>
              </a:rPr>
              <a:t>PÓS-ATRIBUIÇÃO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DEFEC-6B53-487B-9514-E5E4F4F7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538"/>
                </a:solidFill>
                <a:latin typeface="Arial"/>
                <a:ea typeface="Arial"/>
                <a:cs typeface="Arial"/>
              </a:rPr>
              <a:t>delivery, canal, custo e navegação pós-campanha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F9DF3-B385-4B85-8A05-4415BAD3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ESTIMANDO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6F73B-84DB-4B89-A2AD-8BC82EF5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ITT preserva a randomização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19616-32BF-4CB0-B324-63897DD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Financial Growth | Case 2: Uplift Modeling</a:t>
            </a:r>
          </a:p>
        </p:txBody>
      </p:sp>
    </p:spTree>
    <p:extLst>
      <p:ext uri="{BB962C8B-B14F-4D97-AF65-F5344CB8AC3E}">
        <p14:creationId xmlns:p14="http://schemas.microsoft.com/office/powerpoint/2010/main" val="1744767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86F2D-D51D-4B7B-ADB0-CE567D23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S-Learner lidera Qini e Uplift@20% na onda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C7163-9C60-4427-9D4F-A222DA8E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5DF1D-41C8-44CB-A0EB-AAF2B7ED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3"/>
          </a:solidFill>
          <a:ln xmlns:a="http://schemas.openxmlformats.org/drawingml/2006/main" w="0">
            <a:noFill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5334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480cb72c1d41a3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0" y="1524000"/>
          <a:ext xmlns:a="http://schemas.openxmlformats.org/drawingml/2006/main" cx="5505450" cy="2152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6363"/>
                <a:gridCol w="1376363"/>
                <a:gridCol w="1376363"/>
                <a:gridCol w="1376363"/>
              </a:tblGrid>
              <a:tr h="53816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Qini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AUUC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Uplift@10%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S-Learner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0,0035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0,0229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13,5 p.p.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X-Learner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0,0033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0,0227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12,7 p.p.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T-Learner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0,0027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0,0221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11,5 p.p.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7C82F-CE32-4DFD-8A2E-192C3784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CHAMPION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57C7D-BE34-45E5-BC5D-287DB02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S-Learner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BB159-9AA2-4EAB-BAD9-909B04E8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Escolha por Qini. AUUC e Uplift@20% funcionam como desempate.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D1C71-28A7-4D88-AEC2-4E3A5C9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X-Learner usa cross-fitting em três folds. Nenhuma métrica da onda 6 participa da escolha.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A194D-6E66-46D3-8B32-65E99A32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Financial Growth | Case 2: Uplift Modeling</a:t>
            </a:r>
          </a:p>
        </p:txBody>
      </p:sp>
    </p:spTree>
    <p:extLst>
      <p:ext uri="{BB962C8B-B14F-4D97-AF65-F5344CB8AC3E}">
        <p14:creationId xmlns:p14="http://schemas.microsoft.com/office/powerpoint/2010/main" val="1463979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2AB17-32E1-404E-A051-9E12AF9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Top Uplift gera 194 conversões adicionais vs Propensity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C24EB-8405-44DE-8C1A-2655C776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E586-D6B2-4077-9DDC-2528C4C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3"/>
          </a:solidFill>
          <a:ln xmlns:a="http://schemas.openxmlformats.org/drawingml/2006/main" w="0"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1390650"/>
          <a:ext xmlns:a="http://schemas.openxmlformats.org/drawingml/2006/main" cx="58578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4b2364f91d4eba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715125" y="1524000"/>
          <a:ext xmlns:a="http://schemas.openxmlformats.org/drawingml/2006/main" cx="4981575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45394"/>
                <a:gridCol w="1245394"/>
                <a:gridCol w="1245394"/>
                <a:gridCol w="1245394"/>
              </a:tblGrid>
              <a:tr h="5953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Política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Uplift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 líquido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ROI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Random 20%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7,6 p.p.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54.511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13,3x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Top Propensity 20%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8,9 p.p.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73.311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17,8x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Top Uplift 20%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10,8 p.p.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74.178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18,1x</a:t>
                      </a:r>
                    </a:p>
                  </a:txBody>
                  <a:tcPr marL="85725" marR="85725" marT="47625" marB="47625">
                    <a:solidFill>
                      <a:srgbClr val="DCEC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B6F9F-A03D-4674-8717-AC345620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+194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EB724-65B2-4584-B8B0-149DD5B8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62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conversões vs Propensity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530BA-F71F-415A-839C-4F694E64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43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+19,7 mil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BD706-CFC0-47C7-B213-5505E4F5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valor líquido vs Random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EEE98-A52F-4FAB-9383-94618E8C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A vantagem econômica sobre Propensity é de 867 unidades. A próxima versão deve otimizar margem incremental líquida diretamente.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A97F6-39E9-4142-AAB9-61DD2D1F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Financial Growth | Case 2: Uplift Modeling</a:t>
            </a:r>
          </a:p>
        </p:txBody>
      </p:sp>
    </p:spTree>
    <p:extLst>
      <p:ext uri="{BB962C8B-B14F-4D97-AF65-F5344CB8AC3E}">
        <p14:creationId xmlns:p14="http://schemas.microsoft.com/office/powerpoint/2010/main" val="1286500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F54AD-5966-422C-B9A2-86B6C8D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Política recomendada e validação prospectiva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9A86A-31F2-4EF9-9897-4CC5EB4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C26AE-B979-48F6-A52C-090F550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3C8C7-CE0F-4526-8853-21E6B1F5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DECISÃO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81699-521D-4F67-B126-C7070D7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Testar Top Uplift 20% com holdout randomizado persistente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33288-8882-42E3-96D6-206D91E7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O score define prioridade. Assignment, delivery e custo permanecem registrados separadamente para medir ITT e execução.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60E64-6F58-4642-85A8-5054E004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44577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FF1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57813-F19A-47BD-A983-17CC3D67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43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OOT FINAL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5DCD9-1D4E-47BF-8121-27165B3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5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538"/>
                </a:solidFill>
                <a:latin typeface="Arial"/>
                <a:ea typeface="Arial"/>
                <a:cs typeface="Arial"/>
              </a:rPr>
              <a:t>7,70 p.p.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D6DBA-2200-4E48-BB87-A36F2AF2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ITT médio | IC95%: 6,91 a 8,48 p.p.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95300" y="3524250"/>
          <a:ext xmlns:a="http://schemas.openxmlformats.org/drawingml/2006/main" cx="112014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3800"/>
                <a:gridCol w="3733800"/>
                <a:gridCol w="3733800"/>
              </a:tblGrid>
              <a:tr h="4000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Risco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Guardrail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 por onda</a:t>
                      </a:r>
                    </a:p>
                  </a:txBody>
                  <a:tcPr marL="85725" marR="85725" marT="57150" marB="57150">
                    <a:solidFill>
                      <a:srgbClr val="1025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Non-compliance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Preservar ITT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Assignment e delivery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Drift temporal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Holdout futuro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PSI, Qini e Uplift@20%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Efeito negativo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Regras de exclusão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CATE &lt; 0 e segmentos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Policy overfit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Freeze antes do OOT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538"/>
                          </a:solidFill>
                          <a:latin typeface="Arial"/>
                          <a:ea typeface="Arial"/>
                          <a:cs typeface="Arial"/>
                        </a:rPr>
                        <a:t>Policy value e ROI</a:t>
                      </a:r>
                    </a:p>
                  </a:txBody>
                  <a:tcPr marL="85725" marR="85725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8B809-33A3-4306-BA7E-8AF1BCBB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Propensity prioriza clientes, mas ainda não demonstra causalidade. Uplift usa a randomização para estimar efeito incremental e exige confirmação em produção.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0F0C0-A5C8-44FB-9B04-4E5AD91B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Financial Growth | Case 2: Uplift Modeling</a:t>
            </a:r>
          </a:p>
        </p:txBody>
      </p:sp>
    </p:spTree>
    <p:extLst>
      <p:ext uri="{BB962C8B-B14F-4D97-AF65-F5344CB8AC3E}">
        <p14:creationId xmlns:p14="http://schemas.microsoft.com/office/powerpoint/2010/main" val="216588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2026-09-27T11:26:38.0360000Z</dcterms:created>
  <dcterms:modified xsi:type="dcterms:W3CDTF">2026-09-27T11:26:38.0360000Z</dcterms:modified>
</coreProperties>
</file>